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5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8" r:id="rId3"/>
    <p:sldId id="269" r:id="rId4"/>
    <p:sldId id="276" r:id="rId5"/>
    <p:sldId id="280" r:id="rId6"/>
    <p:sldId id="273" r:id="rId7"/>
    <p:sldId id="282" r:id="rId18"/>
    <p:sldId id="274" r:id="rId8"/>
    <p:sldId id="275" r:id="rId9"/>
    <p:sldId id="278" r:id="rId10"/>
    <p:sldId id="28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CE3A7E-C01D-95F3-953D-10924AFF7C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8DF76-461C-0DF9-C6AC-C76390BAB2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582BA-7EFE-407E-89C4-0B93D6902EB6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73B6F2-060B-2A7D-7267-3DD694FDFB0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BA839-3ABC-5C0D-B49D-B8F36CE4D45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3285F1-9BFD-45D1-BC78-62ED228D70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704490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93DB3-DD50-4BCB-808F-056A97D70943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895A5-E90E-45A6-8EC9-92031BC7B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42898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895A5-E90E-45A6-8EC9-92031BC7B8C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081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895A5-E90E-45A6-8EC9-92031BC7B8C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92819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228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688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500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447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415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434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257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090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005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858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435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243838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62188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277108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8285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019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9238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8583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324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65492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574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21610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8352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5667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5347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268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290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42013-5B1D-1AD8-BCEA-C0ED2B260F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4425F-8B88-E797-2EDC-40E028E41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DF749-15B1-273F-80BE-848C0E92E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1FB56-F9E4-C4EA-9F08-A98CCB407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C0B3B-4320-4BA6-1066-B733E7C20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5381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67214-1EB1-607F-62B2-2838F990C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E559F-B93C-362D-094B-8DD6E24A8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5A79A-FB68-902B-C7D9-9C318D36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49799-9BF8-25B2-02B3-CD2FDFE8B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53C34-0C13-028C-0986-B76B400AA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9479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D6E500-8DBB-8750-A7B7-44FC46C1D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FEE65E-534D-7851-F514-85D068D5B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A19F2-7FF3-9F83-962C-41729FC2C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3755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EFD6C7B9-7CC0-4911-9AF6-AED46E45886F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812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  <p:sldLayoutId id="2147483947" r:id="rId12"/>
    <p:sldLayoutId id="2147483948" r:id="rId13"/>
    <p:sldLayoutId id="2147483949" r:id="rId14"/>
    <p:sldLayoutId id="2147483950" r:id="rId15"/>
    <p:sldLayoutId id="2147483951" r:id="rId16"/>
    <p:sldLayoutId id="2147483952" r:id="rId17"/>
    <p:sldLayoutId id="2147483953" r:id="rId18"/>
    <p:sldLayoutId id="2147483954" r:id="rId19"/>
    <p:sldLayoutId id="2147483955" r:id="rId20"/>
    <p:sldLayoutId id="2147483956" r:id="rId21"/>
    <p:sldLayoutId id="2147483957" r:id="rId22"/>
    <p:sldLayoutId id="2147483958" r:id="rId23"/>
    <p:sldLayoutId id="2147483959" r:id="rId24"/>
    <p:sldLayoutId id="2147483960" r:id="rId25"/>
    <p:sldLayoutId id="2147483961" r:id="rId26"/>
    <p:sldLayoutId id="2147483962" r:id="rId27"/>
    <p:sldLayoutId id="2147483963" r:id="rId28"/>
    <p:sldLayoutId id="2147483964" r:id="rId29"/>
    <p:sldLayoutId id="2147483965" r:id="rId30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hyperlink" Target="https://docs.python.org/3/?utm_source=chatgpt.com" TargetMode="External"/><Relationship Id="rId3" Type="http://schemas.openxmlformats.org/officeDocument/2006/relationships/hyperlink" Target="https://docs.streamlit.io/?utm_source=chatgpt.com" TargetMode="External"/><Relationship Id="rId4" Type="http://schemas.openxmlformats.org/officeDocument/2006/relationships/hyperlink" Target="https://pandas.pydata.org/docs/?utm_source=chatgpt.com" TargetMode="External"/><Relationship Id="rId5" Type="http://schemas.openxmlformats.org/officeDocument/2006/relationships/hyperlink" Target="https://numpy.org/doc/?utm_source=chatgpt.com" TargetMode="External"/><Relationship Id="rId6" Type="http://schemas.openxmlformats.org/officeDocument/2006/relationships/hyperlink" Target="https://scikit-learn.org/stable/?utm_source=chatgpt.com" TargetMode="External"/><Relationship Id="rId7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8B8FA-9FD4-DF1E-8D05-F601315166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				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9FCA55D-A987-694D-E831-6201821D5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935" y="1363764"/>
            <a:ext cx="11333326" cy="3971418"/>
          </a:xfrm>
        </p:spPr>
        <p:txBody>
          <a:bodyPr>
            <a:noAutofit/>
          </a:bodyPr>
          <a:lstStyle/>
          <a:p>
            <a:pPr algn="ctr">
              <a:defRPr sz="3400" b="0">
                <a:latin typeface="Trebuchet MS"/>
              </a:defRPr>
            </a:pPr>
            <a:r>
              <a:rPr dirty="0"/>
              <a:t>Summer Training Project Presentation</a:t>
            </a:r>
          </a:p>
          <a:p>
            <a:pPr algn="ctr">
              <a:defRPr sz="3000" b="0">
                <a:latin typeface="Trebuchet MS"/>
              </a:defRPr>
            </a:pPr>
            <a:r>
              <a:rPr dirty="0"/>
              <a:t>   on</a:t>
            </a:r>
          </a:p>
          <a:p>
            <a:pPr algn="ctr">
              <a:defRPr sz="2600" b="1">
                <a:solidFill>
                  <a:srgbClr val="002060"/>
                </a:solidFill>
                <a:latin typeface="Trebuchet MS"/>
              </a:defRPr>
            </a:pPr>
            <a:r>
              <a:t>"SmartCredit: AI-Powered Loan Default Prediction &amp; Risk Scoring System"</a:t>
            </a:r>
          </a:p>
          <a:p>
            <a:pPr algn="ctr">
              <a:defRPr sz="1400" b="0">
                <a:latin typeface="Trebuchet MS"/>
              </a:defRPr>
            </a:pPr>
            <a:endParaRPr dirty="0"/>
          </a:p>
          <a:p>
            <a:pPr algn="ctr">
              <a:defRPr sz="2200" b="1">
                <a:latin typeface="Trebuchet MS"/>
              </a:defRPr>
            </a:pPr>
            <a:r>
              <a:t>NAME - SHIVAM KESHARI</a:t>
            </a:r>
          </a:p>
          <a:p>
            <a:pPr algn="ctr">
              <a:defRPr sz="2200" b="1">
                <a:latin typeface="Trebuchet MS"/>
              </a:defRPr>
            </a:pPr>
            <a:r>
              <a:t>ROLL NO. - (2302840100210)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0DADA8-0C51-2EEC-0CF1-95C5C83F674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1775"/>
            <a:ext cx="2289175" cy="736600"/>
          </a:xfr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621119-736C-9442-32B2-785335AAC880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2CA2278-3693-E2D0-9D5D-F914C1D8A271}"/>
              </a:ext>
            </a:extLst>
          </p:cNvPr>
          <p:cNvSpPr/>
          <p:nvPr/>
        </p:nvSpPr>
        <p:spPr>
          <a:xfrm>
            <a:off x="4546121" y="4415451"/>
            <a:ext cx="3243532" cy="10787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2000" b="1">
                <a:latin typeface="Trebuchet MS"/>
              </a:defRPr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D3EACC-6A43-788D-24D2-373833A2BB42}"/>
              </a:ext>
            </a:extLst>
          </p:cNvPr>
          <p:cNvSpPr txBox="1"/>
          <p:nvPr/>
        </p:nvSpPr>
        <p:spPr>
          <a:xfrm>
            <a:off x="0" y="5626420"/>
            <a:ext cx="121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200" b="1" dirty="0">
                <a:latin typeface="Trebuchet MS"/>
              </a:rPr>
              <a:t>College : </a:t>
            </a:r>
            <a:r>
              <a:rPr sz="2200" b="0" dirty="0">
                <a:latin typeface="Trebuchet MS"/>
              </a:rPr>
              <a:t>United Institute of</a:t>
            </a:r>
            <a:r>
              <a:rPr lang="en-IN" sz="2200" b="0" dirty="0">
                <a:latin typeface="Trebuchet MS"/>
              </a:rPr>
              <a:t> </a:t>
            </a:r>
            <a:r>
              <a:rPr sz="2200" b="0" dirty="0">
                <a:latin typeface="Trebuchet MS"/>
              </a:rPr>
              <a:t>Technology
</a:t>
            </a:r>
            <a:r>
              <a:rPr sz="2000" b="1" dirty="0">
                <a:latin typeface="Trebuchet MS"/>
              </a:rPr>
              <a:t>Session : </a:t>
            </a:r>
            <a:r>
              <a:rPr sz="2000" b="0" dirty="0">
                <a:latin typeface="Trebuchet MS"/>
              </a:rPr>
              <a:t>2026-2027</a:t>
            </a:r>
            <a:endParaRPr lang="en-IN" sz="24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572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8395E-D611-AA84-9603-DC0ABB701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ADB9452-4841-5900-0A13-8D4F4692FC8F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DF0CF307-3F72-574E-8244-07B1DE4FD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>
              <a:defRPr sz="4000" b="1">
                <a:latin typeface="Trebuchet MS"/>
              </a:defRPr>
            </a:pPr>
            <a:r>
              <a:rPr u="sng" dirty="0"/>
              <a:t>Table of Content</a:t>
            </a:r>
            <a:endParaRPr lang="en-IN" u="sng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9A7C4B76-F98F-9764-43EB-3E3BF4F8E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8428" y="2093983"/>
            <a:ext cx="5312230" cy="3658036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sz="2400" b="0">
                <a:latin typeface="Trebuchet MS"/>
              </a:defRPr>
            </a:pPr>
            <a:r>
              <a:rPr dirty="0"/>
              <a:t>  Introduction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 b="0">
                <a:latin typeface="Trebuchet MS"/>
              </a:defRPr>
            </a:pPr>
            <a:r>
              <a:rPr dirty="0"/>
              <a:t>   Objectives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 b="0">
                <a:latin typeface="Trebuchet MS"/>
              </a:defRPr>
            </a:pPr>
            <a:r>
              <a:rPr dirty="0"/>
              <a:t>   Technology Used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 b="0">
                <a:latin typeface="Trebuchet MS"/>
              </a:defRPr>
            </a:pPr>
            <a:r>
              <a:rPr dirty="0"/>
              <a:t>   Data Flow Diagram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 b="0">
                <a:latin typeface="Trebuchet MS"/>
              </a:defRPr>
            </a:pPr>
            <a:r>
              <a:rPr dirty="0"/>
              <a:t>   Features &amp; Dashboard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 b="0">
                <a:latin typeface="Trebuchet MS"/>
              </a:defRPr>
            </a:pPr>
            <a:r>
              <a:rPr dirty="0"/>
              <a:t>   Future Work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 b="0">
                <a:latin typeface="Trebuchet MS"/>
              </a:defRPr>
            </a:pPr>
            <a:r>
              <a:rPr dirty="0"/>
              <a:t>   Conclusion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 b="0">
                <a:latin typeface="Trebuchet MS"/>
              </a:defRPr>
            </a:pPr>
            <a:r>
              <a:rPr dirty="0"/>
              <a:t>   References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93AFAF28-1497-1B30-B572-F6CBEF41A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B8C9FF8-75AE-FC60-0ACA-B8FAFC66720B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940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47C71-DE9E-8528-C01E-ADC1A46BF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690606DC-41B8-1E10-E67A-B6E250C5242D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EE97636-D936-7382-0E0D-A61B61017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718" y="1272378"/>
            <a:ext cx="10515600" cy="595509"/>
          </a:xfrm>
        </p:spPr>
        <p:txBody>
          <a:bodyPr>
            <a:normAutofit fontScale="90000"/>
          </a:bodyPr>
          <a:lstStyle/>
          <a:p>
            <a:pPr algn="ctr">
              <a:defRPr sz="4000" b="1">
                <a:latin typeface="Trebuchet MS"/>
              </a:defRPr>
            </a:pPr>
            <a:r>
              <a:rPr u="sng" dirty="0"/>
              <a:t>Introduction</a:t>
            </a:r>
            <a:endParaRPr lang="en-IN" u="sng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A376CD85-B5AF-EEF0-EED3-DA579B988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5C6D13B-7E07-8C37-D1B0-F323D060342D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DCA76BA-2FAE-F00C-AAF1-1FF62F2A75FD}"/>
              </a:ext>
            </a:extLst>
          </p:cNvPr>
          <p:cNvSpPr txBox="1"/>
          <p:nvPr/>
        </p:nvSpPr>
        <p:spPr>
          <a:xfrm>
            <a:off x="984682" y="2221795"/>
            <a:ext cx="950914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spcAft>
                <a:spcPts val="400"/>
              </a:spcAft>
              <a:buFont typeface="Arial" panose="020B0604020202020204" pitchFamily="34" charset="0"/>
              <a:buChar char="•"/>
              <a:defRPr sz="1350"/>
            </a:pPr>
            <a:r>
              <a:t>• SmartCredit is a machine-learning application designed to evaluate loan default risk and borrower creditworthiness.</a:t>
            </a:r>
          </a:p>
          <a:p>
            <a:pPr>
              <a:spcAft>
                <a:spcPts val="400"/>
              </a:spcAft>
              <a:defRPr sz="1350"/>
            </a:pPr>
            <a:r>
              <a:t>• It analyzes financial, demographic, and behavioral factors including income, credit score, DTI ratio, and assets.</a:t>
            </a:r>
          </a:p>
          <a:p>
            <a:pPr>
              <a:spcAft>
                <a:spcPts val="400"/>
              </a:spcAft>
              <a:defRPr sz="1350"/>
            </a:pPr>
            <a:r>
              <a:t>• It helps banks and NBFCs identify high-risk applicants early and minimize Non-Performing Assets (NPAs).</a:t>
            </a:r>
          </a:p>
          <a:p>
            <a:pPr>
              <a:spcAft>
                <a:spcPts val="1000"/>
              </a:spcAft>
              <a:defRPr sz="1350"/>
            </a:pPr>
            <a:r>
              <a:t>• The system provides real-time default probability, granular risk tiers (Low/Medium/High), and recommended safe loan limits.</a:t>
            </a:r>
          </a:p>
          <a:p>
            <a:pPr>
              <a:spcAft>
                <a:spcPts val="600"/>
              </a:spcAft>
              <a:defRPr sz="1700" b="1">
                <a:solidFill>
                  <a:srgbClr val="102C57"/>
                </a:solidFill>
              </a:defRPr>
            </a:pPr>
            <a:r>
              <a:t>Problem Statement</a:t>
            </a:r>
          </a:p>
          <a:p>
            <a:pPr>
              <a:spcAft>
                <a:spcPts val="400"/>
              </a:spcAft>
              <a:defRPr sz="1250"/>
            </a:pPr>
            <a:r>
              <a:t>In banking and NBFCs, manual credit underwriting is slow, labor-intensive, and prone to human subjectivity. Unsound loan sanctions directly lead to increased loan defaults and non-performing assets (NPAs), jeopardizing institutional liquidity.</a:t>
            </a:r>
          </a:p>
          <a:p>
            <a:pPr>
              <a:defRPr sz="1250"/>
            </a:pPr>
            <a:r>
              <a:t>The proposed SmartCredit – AI-Powered Loan Default Prediction &amp; Risk Scoring System leverages machine learning to automate underwriting, evaluate default probability accurately, and assign transparent risk categories. It empowers lenders to make rapid, objective, and risk-adjusted credit decisions.</a:t>
            </a:r>
          </a:p>
        </p:txBody>
      </p:sp>
    </p:spTree>
    <p:extLst>
      <p:ext uri="{BB962C8B-B14F-4D97-AF65-F5344CB8AC3E}">
        <p14:creationId xmlns:p14="http://schemas.microsoft.com/office/powerpoint/2010/main" val="1451485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BDF9C-84FC-7749-B01D-2F2D9E8A4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E3DE789-FF44-6F5F-7015-C7478428CB32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AFBB1A5-D565-31E4-6453-198364F34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72" y="1178764"/>
            <a:ext cx="10515600" cy="595509"/>
          </a:xfrm>
        </p:spPr>
        <p:txBody>
          <a:bodyPr>
            <a:normAutofit fontScale="90000"/>
          </a:bodyPr>
          <a:lstStyle/>
          <a:p>
            <a:pPr algn="ctr">
              <a:defRPr sz="4000" b="1">
                <a:latin typeface="Trebuchet MS"/>
              </a:defRPr>
            </a:pPr>
            <a:r>
              <a:rPr u="sng" dirty="0"/>
              <a:t>Objectives</a:t>
            </a:r>
            <a:endParaRPr lang="en-IN" u="sng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787C0CD0-8BC4-5A63-12AD-364645758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70" y="2385094"/>
            <a:ext cx="10373033" cy="4491945"/>
          </a:xfrm>
        </p:spPr>
        <p:txBody>
          <a:bodyPr>
            <a:normAutofit/>
          </a:bodyPr>
          <a:lstStyle/>
          <a:p>
            <a:pPr marL="285750" lvl="0" indent="-285750">
              <a:spcAft>
                <a:spcPts val="1600"/>
              </a:spcAft>
              <a:buFont typeface="Arial" panose="020B0604020202020204" pitchFamily="34" charset="0"/>
              <a:buChar char="•"/>
              <a:defRPr sz="1500"/>
            </a:pPr>
            <a:r>
              <a:t>To predict loan approval and default risk using trained machine learning classification models.</a:t>
            </a:r>
          </a:p>
          <a:p>
            <a:pPr>
              <a:spcAft>
                <a:spcPts val="1600"/>
              </a:spcAft>
              <a:defRPr sz="1500"/>
            </a:pPr>
            <a:r>
              <a:t>To analyze critical financial determinants such as Debt-to-Income (DTI) ratio, CIBIL score, and savings.</a:t>
            </a:r>
          </a:p>
          <a:p>
            <a:pPr>
              <a:spcAft>
                <a:spcPts val="1600"/>
              </a:spcAft>
              <a:defRPr sz="1500"/>
            </a:pPr>
            <a:r>
              <a:t>To identify high-risk applicants early and protect lenders against financial default losses (NPAs).</a:t>
            </a:r>
          </a:p>
          <a:p>
            <a:pPr>
              <a:spcAft>
                <a:spcPts val="1600"/>
              </a:spcAft>
              <a:defRPr sz="1500"/>
            </a:pPr>
            <a:r>
              <a:t>To categorize applicants into actionable risk tiers (Low, Medium, High) with safe loan amount limits.</a:t>
            </a:r>
          </a:p>
          <a:p>
            <a:pPr>
              <a:spcAft>
                <a:spcPts val="1600"/>
              </a:spcAft>
              <a:defRPr sz="1500"/>
            </a:pPr>
            <a:r>
              <a:t>To provide a user-friendly, interactive Streamlit web dashboard for real-time credit underwriting.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8A98B168-69BD-F030-901E-FCA228A0D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A95CCD-FAEE-5F21-1300-761968C5C11C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725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3FDC93B-D017-1CAF-2773-292E4A1D293D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C4011E7D-C951-B3D3-82BD-9AEC8D67F6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8BD44D-85E5-943C-DA38-7582A21AEF83}"/>
              </a:ext>
            </a:extLst>
          </p:cNvPr>
          <p:cNvSpPr txBox="1"/>
          <p:nvPr/>
        </p:nvSpPr>
        <p:spPr>
          <a:xfrm>
            <a:off x="4098084" y="1170432"/>
            <a:ext cx="4001928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>
              <a:defRPr sz="4000" b="1">
                <a:latin typeface="Trebuchet MS"/>
              </a:defRPr>
            </a:pPr>
            <a:r>
              <a:rPr u="sng" dirty="0"/>
              <a:t>Technology Used</a:t>
            </a:r>
            <a:endParaRPr lang="en-IN" sz="4000" u="sn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9C0831-140E-0C09-4794-E7B0B5502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177505"/>
              </p:ext>
            </p:extLst>
          </p:nvPr>
        </p:nvGraphicFramePr>
        <p:xfrm>
          <a:off x="810882" y="2602706"/>
          <a:ext cx="10200017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00597">
                  <a:extLst>
                    <a:ext uri="{9D8B030D-6E8A-4147-A177-3AD203B41FA5}">
                      <a16:colId xmlns:a16="http://schemas.microsoft.com/office/drawing/2014/main" val="1012480316"/>
                    </a:ext>
                  </a:extLst>
                </a:gridCol>
                <a:gridCol w="4699420">
                  <a:extLst>
                    <a:ext uri="{9D8B030D-6E8A-4147-A177-3AD203B41FA5}">
                      <a16:colId xmlns:a16="http://schemas.microsoft.com/office/drawing/2014/main" val="25351956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5514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Core programming language for ML pipeline and backend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601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Streamlit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Interactive multi-page web application &amp; user interface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3657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Pandas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Data ingestion, hygiene checking, and data preprocessing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435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NumPy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Vectorized numerical transformations and ratio computations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3959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Scikit-Learn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Model training (Logistic, Tree, Random Forest) &amp; metrics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855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Credit risk classification &amp; minimal cost-complexity pruning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398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3580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5934A-587E-F634-ACDA-39BE9D3D1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DA77D1C-F121-206C-0361-3CDA700023AA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4333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225A6E71-D6D1-123D-A85C-AA38BA9E0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718" y="1163204"/>
            <a:ext cx="10515600" cy="595509"/>
          </a:xfrm>
        </p:spPr>
        <p:txBody>
          <a:bodyPr>
            <a:normAutofit fontScale="90000"/>
          </a:bodyPr>
          <a:lstStyle/>
          <a:p>
            <a:pPr algn="ctr">
              <a:defRPr sz="4000" b="1">
                <a:latin typeface="Trebuchet MS"/>
              </a:defRPr>
            </a:pPr>
            <a:r>
              <a:t>Data Flow Diagram</a:t>
            </a:r>
            <a:endParaRPr lang="en-IN" dirty="0">
              <a:latin typeface="Trebuchet MS" panose="020B0603020202020204" pitchFamily="34" charset="0"/>
            </a:endParaRPr>
          </a:p>
        </p:txBody>
      </p:sp>
      <p:pic>
        <p:nvPicPr>
          <p:cNvPr id="5" name="Content Placeholder 4" descr="A diagram of a chatbot&#10;&#10;AI-generated content may be incorrect.">
            <a:extLst>
              <a:ext uri="{FF2B5EF4-FFF2-40B4-BE49-F238E27FC236}">
                <a16:creationId xmlns:a16="http://schemas.microsoft.com/office/drawing/2014/main" id="{1F426D88-5059-F424-9916-CA9EFD399C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315" y="1846263"/>
            <a:ext cx="6934200" cy="4521880"/>
          </a:xfrm>
        </p:spPr>
      </p:pic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6646E5F1-C609-9123-F49F-7849A8AC59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85A858A-D0FA-350C-C0AE-D8DAF75481FF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dfd_smartcred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19273"/>
            <a:ext cx="12192000" cy="554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50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4BAFA-C592-6E55-F818-230D80E53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A917874-E942-8E27-5727-4CF761368A00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6797BE05-8F59-7FA4-8DFC-C78CE047B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344" y="1202075"/>
            <a:ext cx="10515600" cy="595509"/>
          </a:xfrm>
        </p:spPr>
        <p:txBody>
          <a:bodyPr>
            <a:normAutofit fontScale="90000"/>
          </a:bodyPr>
          <a:lstStyle/>
          <a:p>
            <a:pPr algn="ctr">
              <a:defRPr sz="4000" b="1">
                <a:latin typeface="Trebuchet MS"/>
              </a:defRPr>
            </a:pPr>
            <a:r>
              <a:rPr u="sng" dirty="0"/>
              <a:t>Future </a:t>
            </a:r>
            <a:r>
              <a:rPr lang="en-IN" u="sng" dirty="0"/>
              <a:t>Scope</a:t>
            </a:r>
            <a:endParaRPr lang="en-IN" u="sng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576252F9-7407-F97F-6D97-2D0D9E646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886" y="2416630"/>
            <a:ext cx="9786257" cy="4801202"/>
          </a:xfrm>
        </p:spPr>
        <p:txBody>
          <a:bodyPr>
            <a:normAutofit/>
          </a:bodyPr>
          <a:lstStyle/>
          <a:p>
            <a:pPr marL="285750" lvl="0" indent="-285750">
              <a:spcAft>
                <a:spcPts val="1400"/>
              </a:spcAft>
              <a:buFont typeface="Arial" panose="020B0604020202020204" pitchFamily="34" charset="0"/>
              <a:buChar char="•"/>
              <a:defRPr sz="1500"/>
            </a:pPr>
            <a:r>
              <a:t>Integrate alternative data sources such as utility payments, GST returns, and open banking APIs.</a:t>
            </a:r>
          </a:p>
          <a:p>
            <a:pPr>
              <a:spcAft>
                <a:spcPts val="1400"/>
              </a:spcAft>
              <a:defRPr sz="1500"/>
            </a:pPr>
            <a:r>
              <a:t>Incorporate Explainable AI (XAI) using SHAP and LIME for transparent credit denial justifications.</a:t>
            </a:r>
          </a:p>
          <a:p>
            <a:pPr>
              <a:spcAft>
                <a:spcPts val="1400"/>
              </a:spcAft>
              <a:defRPr sz="1500"/>
            </a:pPr>
            <a:r>
              <a:t>Implement automated PDF credit underwriting report generation with digital risk certificate.</a:t>
            </a:r>
          </a:p>
          <a:p>
            <a:pPr>
              <a:spcAft>
                <a:spcPts val="1400"/>
              </a:spcAft>
              <a:defRPr sz="1500"/>
            </a:pPr>
            <a:r>
              <a:t>Deploy the application onto cloud platforms (Streamlit Community Cloud / AWS ECS) for multi-branch access.</a:t>
            </a:r>
          </a:p>
          <a:p>
            <a:pPr>
              <a:spcAft>
                <a:spcPts val="1400"/>
              </a:spcAft>
              <a:defRPr sz="1500"/>
            </a:pPr>
            <a:r>
              <a:t>Enhance data security, encryption standards, and regulatory compliance (RBI / Fair Lending mandates).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EB1D0318-6550-EC88-F3AF-851BB4016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7CAD0B6-0563-E4E4-4ADE-CCEEE57C51FF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002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415D0-33A7-F83F-328D-5D5E931E0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92B2B5E6-4C45-2948-ABFF-53A3989C25CC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CC894896-8B14-BD5D-5CC3-7466E8160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9595"/>
            <a:ext cx="10515600" cy="595509"/>
          </a:xfrm>
        </p:spPr>
        <p:txBody>
          <a:bodyPr>
            <a:normAutofit fontScale="90000"/>
          </a:bodyPr>
          <a:lstStyle/>
          <a:p>
            <a:pPr algn="ctr">
              <a:defRPr sz="4000" b="1">
                <a:latin typeface="Trebuchet MS"/>
              </a:defRPr>
            </a:pPr>
            <a:r>
              <a:rPr lang="en-IN" dirty="0"/>
              <a:t>       </a:t>
            </a:r>
            <a:r>
              <a:rPr u="sng" dirty="0"/>
              <a:t>Conclusion</a:t>
            </a:r>
            <a:endParaRPr lang="en-IN" u="sng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2D44ED72-9249-8190-D90B-3F52B81C2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4682" y="2257268"/>
            <a:ext cx="10286999" cy="3255266"/>
          </a:xfrm>
        </p:spPr>
        <p:txBody>
          <a:bodyPr>
            <a:noAutofit/>
          </a:bodyPr>
          <a:lstStyle/>
          <a:p>
            <a:pPr marL="285750" lvl="0" indent="-285750">
              <a:spcAft>
                <a:spcPts val="1400"/>
              </a:spcAft>
              <a:buFont typeface="Arial" panose="020B0604020202020204" pitchFamily="34" charset="0"/>
              <a:buChar char="•"/>
              <a:defRPr sz="1500"/>
            </a:pPr>
            <a:r>
              <a:t>SmartCredit demonstrates the practical application of Machine Learning in FinTech credit risk evaluation.</a:t>
            </a:r>
          </a:p>
          <a:p>
            <a:pPr>
              <a:spcAft>
                <a:spcPts val="1400"/>
              </a:spcAft>
              <a:defRPr sz="1500"/>
            </a:pPr>
            <a:r>
              <a:t>It successfully integrates financial, demographic, and leverage metrics into a unified predictive model.</a:t>
            </a:r>
          </a:p>
          <a:p>
            <a:pPr>
              <a:spcAft>
                <a:spcPts val="1400"/>
              </a:spcAft>
              <a:defRPr sz="1500"/>
            </a:pPr>
            <a:r>
              <a:t>The Random Forest model achieved a 95.8% accuracy and 100% recall, minimizing costly False Negatives.</a:t>
            </a:r>
          </a:p>
          <a:p>
            <a:pPr>
              <a:spcAft>
                <a:spcPts val="1400"/>
              </a:spcAft>
              <a:defRPr sz="1500"/>
            </a:pPr>
            <a:r>
              <a:t>The interactive Streamlit dashboard provides transparent risk tiers, probability metrics, and safe limits.</a:t>
            </a:r>
          </a:p>
          <a:p>
            <a:pPr>
              <a:spcAft>
                <a:spcPts val="1400"/>
              </a:spcAft>
              <a:defRPr sz="1500"/>
            </a:pPr>
            <a:r>
              <a:t>The system acts as a reliable decision-support intelligence tool, accelerating institutional underwriting.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B6AA7AE2-0938-ED22-79D8-B3EE2C6DD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D353B70-5CA6-7940-BBBC-F7069B3ABEB6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808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0740A-1926-004E-5F53-EC1D463A3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0D6604C-0111-798A-182A-4B4A8088B877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F0E60A89-A293-BACC-B000-32B562FF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718" y="1199595"/>
            <a:ext cx="10515600" cy="595509"/>
          </a:xfrm>
        </p:spPr>
        <p:txBody>
          <a:bodyPr>
            <a:normAutofit fontScale="90000"/>
          </a:bodyPr>
          <a:lstStyle/>
          <a:p>
            <a:pPr algn="ctr">
              <a:defRPr sz="4000" b="1">
                <a:latin typeface="Trebuchet MS"/>
              </a:defRPr>
            </a:pPr>
            <a:r>
              <a:rPr u="sng" dirty="0"/>
              <a:t>References</a:t>
            </a:r>
            <a:endParaRPr lang="en-IN" u="sng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53F3E7E9-D890-6368-D23D-EC75E5D44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003" y="2385094"/>
            <a:ext cx="10832339" cy="3366925"/>
          </a:xfrm>
        </p:spPr>
        <p:txBody>
          <a:bodyPr>
            <a:normAutofit/>
          </a:bodyPr>
          <a:lstStyle/>
          <a:p>
            <a:pPr lvl="0">
              <a:spcAft>
                <a:spcPts val="1200"/>
              </a:spcAft>
              <a:defRPr sz="1400"/>
            </a:pPr>
            <a:r>
              <a:t>Loan Approval Benchmark Dataset — Historical Retail Banking Credit Risk Records.</a:t>
            </a:r>
          </a:p>
          <a:p>
            <a:pPr>
              <a:spcAft>
                <a:spcPts val="1200"/>
              </a:spcAft>
              <a:defRPr sz="1400"/>
            </a:pPr>
            <a:r>
              <a:t>Scikit-Learn Documentation — Minimal Cost-Complexity Pruning &amp; Random Forest (scikit-learn.org).</a:t>
            </a:r>
          </a:p>
          <a:p>
            <a:pPr>
              <a:spcAft>
                <a:spcPts val="1200"/>
              </a:spcAft>
              <a:defRPr sz="1400"/>
            </a:pPr>
            <a:r>
              <a:t>Streamlit Documentation — Multi-page Web Applications &amp; Interactive Widgets (docs.streamlit.io).</a:t>
            </a:r>
          </a:p>
          <a:p>
            <a:pPr>
              <a:spcAft>
                <a:spcPts val="1200"/>
              </a:spcAft>
              <a:defRPr sz="1400"/>
            </a:pPr>
            <a:r>
              <a:t>Pandas &amp; NumPy Documentation — Data Cleaning, Imputation &amp; Vector Operations (pandas.pydata.org).</a:t>
            </a:r>
          </a:p>
          <a:p>
            <a:pPr>
              <a:spcAft>
                <a:spcPts val="1200"/>
              </a:spcAft>
              <a:defRPr sz="1400"/>
            </a:pPr>
            <a:r>
              <a:t>Leo Breiman, Jerome Friedman et al. — Classification and Regression Trees (CART Theory).</a:t>
            </a:r>
          </a:p>
          <a:p>
            <a:pPr>
              <a:spcAft>
                <a:spcPts val="1200"/>
              </a:spcAft>
              <a:defRPr sz="1400"/>
            </a:pPr>
            <a:r>
              <a:t>Reserve Bank of India (RBI) / Basel III Framework — Guidelines on Credit Risk &amp; NPA Management.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F82CFBCD-7126-3AE3-561D-39FAD29A78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F3B6F4C-2D37-AAF2-8965-565DA634178C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16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724300B-3637-F0DC-2945-733C7000FA01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2D814D89-3AF2-854D-EA1D-C0BF31BBE7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35" y="232126"/>
            <a:ext cx="2289175" cy="736600"/>
          </a:xfrm>
          <a:prstGeom prst="rect">
            <a:avLst/>
          </a:prstGeom>
        </p:spPr>
      </p:pic>
      <p:sp>
        <p:nvSpPr>
          <p:cNvPr id="5" name="Arrow: Curved Right 4">
            <a:extLst>
              <a:ext uri="{FF2B5EF4-FFF2-40B4-BE49-F238E27FC236}">
                <a16:creationId xmlns:a16="http://schemas.microsoft.com/office/drawing/2014/main" id="{30D0C611-2397-0587-89C1-D03FB26CC7EB}"/>
              </a:ext>
            </a:extLst>
          </p:cNvPr>
          <p:cNvSpPr/>
          <p:nvPr/>
        </p:nvSpPr>
        <p:spPr>
          <a:xfrm>
            <a:off x="1511310" y="2275117"/>
            <a:ext cx="1003155" cy="187128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09883D-76CA-5BB5-3C10-1E358DCB4EF2}"/>
              </a:ext>
            </a:extLst>
          </p:cNvPr>
          <p:cNvSpPr txBox="1"/>
          <p:nvPr/>
        </p:nvSpPr>
        <p:spPr>
          <a:xfrm>
            <a:off x="3069771" y="2496153"/>
            <a:ext cx="531209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9000" b="1">
                <a:latin typeface="Trebuchet MS"/>
              </a:defRPr>
            </a:pPr>
            <a:r>
              <a:t>Thank You</a:t>
            </a:r>
            <a:endParaRPr lang="en-IN" sz="9600" dirty="0"/>
          </a:p>
        </p:txBody>
      </p:sp>
      <p:sp>
        <p:nvSpPr>
          <p:cNvPr id="8" name="Arrow: Curved Right 7">
            <a:extLst>
              <a:ext uri="{FF2B5EF4-FFF2-40B4-BE49-F238E27FC236}">
                <a16:creationId xmlns:a16="http://schemas.microsoft.com/office/drawing/2014/main" id="{CBEFFFCE-59ED-D249-1C92-60CC0802E4F2}"/>
              </a:ext>
            </a:extLst>
          </p:cNvPr>
          <p:cNvSpPr/>
          <p:nvPr/>
        </p:nvSpPr>
        <p:spPr>
          <a:xfrm flipH="1">
            <a:off x="8839199" y="2275117"/>
            <a:ext cx="1088571" cy="1871275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668569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02C57"/>
                </a:solidFill>
              </a:defRPr>
            </a:pPr>
            <a:r>
              <a:t>Features &amp;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unit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210312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/>
            </a:pPr>
            <a:r>
              <a:t>Real-Time Credit Prediction: Instant evaluation of loan approval probability in under 1 second.</a:t>
            </a:r>
          </a:p>
          <a:p>
            <a:pPr>
              <a:spcAft>
                <a:spcPts val="1000"/>
              </a:spcAft>
              <a:defRPr sz="1300"/>
            </a:pPr>
            <a:r>
              <a:t>Granular Risk Tiers: Automated tagging into Low Risk (🟢), Medium Risk (🟡), and High Risk (🔴).</a:t>
            </a:r>
          </a:p>
          <a:p>
            <a:pPr>
              <a:spcAft>
                <a:spcPts val="1000"/>
              </a:spcAft>
              <a:defRPr sz="1300"/>
            </a:pPr>
            <a:r>
              <a:t>Safe Loan Recommendation: Algorithmic calculation of maximum safe sanction amount based on DTI.</a:t>
            </a:r>
          </a:p>
          <a:p>
            <a:pPr>
              <a:spcAft>
                <a:spcPts val="1000"/>
              </a:spcAft>
              <a:defRPr sz="1300"/>
            </a:pPr>
            <a:r>
              <a:t>Interactive EDA Portal: Multi-tab distribution curves, CIBIL boxplots, and correlation heatmaps.</a:t>
            </a:r>
          </a:p>
          <a:p>
            <a:pPr>
              <a:spcAft>
                <a:spcPts val="1000"/>
              </a:spcAft>
              <a:defRPr sz="1300"/>
            </a:pPr>
            <a:r>
              <a:t>Model Benchmark Suite: Side-by-side performance ledger, confusion matrices, and ROC curves.</a:t>
            </a:r>
          </a:p>
        </p:txBody>
      </p:sp>
      <p:pic>
        <p:nvPicPr>
          <p:cNvPr id="6" name="Picture 5" descr="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45920"/>
            <a:ext cx="4389120" cy="3474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725</TotalTime>
  <Words>508</Words>
  <Application>Microsoft Office PowerPoint</Application>
  <PresentationFormat>Widescreen</PresentationFormat>
  <Paragraphs>80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Neue Haas Grotesk Text Pro</vt:lpstr>
      <vt:lpstr>Nirmala UI Semilight</vt:lpstr>
      <vt:lpstr>System Font Regular</vt:lpstr>
      <vt:lpstr>Trebuchet MS</vt:lpstr>
      <vt:lpstr>Bjorn</vt:lpstr>
      <vt:lpstr>    </vt:lpstr>
      <vt:lpstr>Table of Content</vt:lpstr>
      <vt:lpstr>Introduction</vt:lpstr>
      <vt:lpstr>Objectives</vt:lpstr>
      <vt:lpstr>PowerPoint Presentation</vt:lpstr>
      <vt:lpstr>Data Flow Diagram</vt:lpstr>
      <vt:lpstr>Future Scope</vt:lpstr>
      <vt:lpstr>       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Suyash Shukla</dc:creator>
  <cp:lastModifiedBy>Riya kesharwani</cp:lastModifiedBy>
  <cp:revision>27</cp:revision>
  <dcterms:created xsi:type="dcterms:W3CDTF">2024-08-24T09:30:54Z</dcterms:created>
  <dcterms:modified xsi:type="dcterms:W3CDTF">2026-10-19T14:17:12Z</dcterms:modified>
</cp:coreProperties>
</file>